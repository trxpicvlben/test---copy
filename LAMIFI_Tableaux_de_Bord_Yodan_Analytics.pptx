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98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bg1"/>
                </a:solidFill>
              </a:rPr>
              <a:t>YODAN ANALYTICS — LAMIFI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Tableaux de Bord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Santé &amp; Performance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Indicateurs clés par questionnaire · RH / DG · Médecin du Travail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645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1600200" cy="32004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COPSOQ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12848" y="4160520"/>
            <a:ext cx="1600200" cy="320040"/>
          </a:xfrm>
          <a:prstGeom prst="rect">
            <a:avLst/>
          </a:prstGeom>
          <a:solidFill>
            <a:srgbClr val="7B3FBE">
              <a:alpha val="25000"/>
            </a:srgbClr>
          </a:solidFill>
          <a:ln w="12700">
            <a:solidFill>
              <a:srgbClr val="7B3FB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2" name="Text 10"/>
          <p:cNvSpPr/>
          <p:nvPr/>
        </p:nvSpPr>
        <p:spPr>
          <a:xfrm>
            <a:off x="2212848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KARASEK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68496" y="4160520"/>
            <a:ext cx="1600200" cy="320040"/>
          </a:xfrm>
          <a:prstGeom prst="rect">
            <a:avLst/>
          </a:prstGeom>
          <a:solidFill>
            <a:srgbClr val="D83A3A">
              <a:alpha val="25000"/>
            </a:srgbClr>
          </a:solidFill>
          <a:ln w="12700">
            <a:solidFill>
              <a:srgbClr val="D83A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3968496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MBI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24144" y="4160520"/>
            <a:ext cx="1600200" cy="320040"/>
          </a:xfrm>
          <a:prstGeom prst="rect">
            <a:avLst/>
          </a:prstGeom>
          <a:solidFill>
            <a:srgbClr val="1D9E75">
              <a:alpha val="2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6" name="Text 14"/>
          <p:cNvSpPr/>
          <p:nvPr/>
        </p:nvSpPr>
        <p:spPr>
          <a:xfrm>
            <a:off x="5724144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QVT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79792" y="4160520"/>
            <a:ext cx="1600200" cy="320040"/>
          </a:xfrm>
          <a:prstGeom prst="rect">
            <a:avLst/>
          </a:prstGeom>
          <a:solidFill>
            <a:srgbClr val="E8861A">
              <a:alpha val="25000"/>
            </a:srgbClr>
          </a:solidFill>
          <a:ln w="12700">
            <a:solidFill>
              <a:srgbClr val="E886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8" name="Text 16"/>
          <p:cNvSpPr/>
          <p:nvPr/>
        </p:nvSpPr>
        <p:spPr>
          <a:xfrm>
            <a:off x="7479792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WHO · PSS-10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bg1"/>
                </a:solidFill>
              </a:rPr>
              <a:t>Réf. : Karasek (1979) · Maslach (1981) · Cohen (1983) · Kristensen (2005) · WHO 2020 · Gallup 2023 · ILO · INRS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LAMIFI — Structure des Tableaux de Bord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COPSOQ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Kristensen et al., 2005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011680" y="969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8BD4"/>
                </a:solidFill>
              </a:rPr>
              <a:t>RH / DG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1168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Contraintes quantitatives · Reconnaissance · Leadership · Sens · Insécurité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0" y="969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83A3A"/>
                </a:solidFill>
              </a:rPr>
              <a:t>Médecin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0352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Épuisement · Exigences émotionnelles · Conflit famille-travail · SAE · Soutien social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709928"/>
            <a:ext cx="91440" cy="658368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Shape 11"/>
          <p:cNvSpPr/>
          <p:nvPr/>
        </p:nvSpPr>
        <p:spPr>
          <a:xfrm>
            <a:off x="502920" y="170992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594360" y="17647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3FBE"/>
                </a:solidFill>
              </a:rPr>
              <a:t>KARASEK + Sat.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Karasek 1979, Johnson &amp; Hall 1988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11680" y="17647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8BD4"/>
                </a:solidFill>
              </a:rPr>
              <a:t>RH / DG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11680" y="1938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% Job Strain · Latitude décisionnelle · Demandes psychologiques · Satisfaction · Iso-Strain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0" y="17647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83A3A"/>
                </a:solidFill>
              </a:rPr>
              <a:t>Médecin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0" y="1938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Prévalence Iso-Strain · Soutien superviseur · Demandes (médical) · Latitude · Satisfaction-santé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91440" cy="658368"/>
          </a:xfrm>
          <a:prstGeom prst="rect">
            <a:avLst/>
          </a:prstGeom>
          <a:solidFill>
            <a:srgbClr val="D83A3A"/>
          </a:solidFill>
          <a:ln w="12700">
            <a:solidFill>
              <a:srgbClr val="D83A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Shape 19"/>
          <p:cNvSpPr/>
          <p:nvPr/>
        </p:nvSpPr>
        <p:spPr>
          <a:xfrm>
            <a:off x="502920" y="250545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2" name="Text 20"/>
          <p:cNvSpPr/>
          <p:nvPr/>
        </p:nvSpPr>
        <p:spPr>
          <a:xfrm>
            <a:off x="59436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3A3A"/>
                </a:solidFill>
              </a:rPr>
              <a:t>MBI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Maslach &amp; Jackson 1981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011680" y="2560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8BD4"/>
                </a:solidFill>
              </a:rPr>
              <a:t>RH / DG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11680" y="27340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Taux burnout avéré · Épuisement émotionnel · Burnout partiel · Réalisation pers. · Profil par direction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0" y="2560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83A3A"/>
                </a:solidFill>
              </a:rPr>
              <a:t>Médecin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03520" y="27340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EE ≥ 27 · Burnout triple critère · Dépersonnalisation · MBI × santé · Suivi longitudinal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00984"/>
            <a:ext cx="9144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Shape 27"/>
          <p:cNvSpPr/>
          <p:nvPr/>
        </p:nvSpPr>
        <p:spPr>
          <a:xfrm>
            <a:off x="502920" y="330098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0" name="Text 28"/>
          <p:cNvSpPr/>
          <p:nvPr/>
        </p:nvSpPr>
        <p:spPr>
          <a:xfrm>
            <a:off x="594360" y="3355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QVT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648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ANACT 2016 · ISO 45003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011680" y="33558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8BD4"/>
                </a:solidFill>
              </a:rPr>
              <a:t>RH / DG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011680" y="35295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Indice global QVT · Relations de travail · Contenu / sens · Égalité perçue · Conditions travail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03520" y="33558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83A3A"/>
                </a:solidFill>
              </a:rPr>
              <a:t>Médecin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03520" y="3529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Adéquation ressources · Charge physique · Conflit de rôle · Équilibre vie pro/privée · Équité ERI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4096512"/>
            <a:ext cx="91440" cy="658368"/>
          </a:xfrm>
          <a:prstGeom prst="rect">
            <a:avLst/>
          </a:prstGeom>
          <a:solidFill>
            <a:srgbClr val="E8861A"/>
          </a:solidFill>
          <a:ln w="12700">
            <a:solidFill>
              <a:srgbClr val="E8861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Shape 35"/>
          <p:cNvSpPr/>
          <p:nvPr/>
        </p:nvSpPr>
        <p:spPr>
          <a:xfrm>
            <a:off x="502920" y="409651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8" name="Text 36"/>
          <p:cNvSpPr/>
          <p:nvPr/>
        </p:nvSpPr>
        <p:spPr>
          <a:xfrm>
            <a:off x="594360" y="4151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61A"/>
                </a:solidFill>
              </a:rPr>
              <a:t>WHO / PSS-10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4443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Cohen 1983 · OMS 2020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011680" y="41513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8BD4"/>
                </a:solidFill>
              </a:rPr>
              <a:t>RH / DG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011680" y="4325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Score stress perçu · % stress sévère · Sentiment de contrôle · WHO-5 · Évolution entre vagues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03520" y="41513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83A3A"/>
                </a:solidFill>
              </a:rPr>
              <a:t>Médecin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303520" y="4325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4"/>
                </a:solidFill>
              </a:rPr>
              <a:t>WHO-5 &lt; 28 (détresse) · PSS ≥ 27 · Item Q5 PSS · Stress × comportements · Suivi longitudinal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COPSOQ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RH / Directeur Général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RH / DG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contraintes quantitatives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Rythme et exigences cognitives : prédicteur N°1 de l'absentéisme (INRS 2022). Seuil critique &gt; 55/100. Segmenter par direction.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INRS 2022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Niveau de reconnaissance perçue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+21% productivité si reconnaissance forte (Gallup 2023). Levier managérial direct mesurable par équipe et direction.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Gallup 2023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Qualité du leadership perçue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30-40% des managers sous le seuil dans les données Orange CI. Prédicteur du turnover (Eurofound 2023).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Eurofound 2023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Sens du travail (motivation perçue)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Lien direct avec l'efficience opérationnelle. Terrain BTL : risque désengagement. Seuil OMS &lt; 50/100 = alerte.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OMS 2020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Insécurité professionnelle perçue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Corrélée aux conflits sociaux et au turnover. 38.5% exposés dans les données terrain. Indicateur stratégique en restructuration.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Siegrist 1996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COPSOQ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Médecin du Travail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Médecin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d'épuisement professionnel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Mesure préclinique du burnout. Orange CI : 20% exposés, 6% en phase critique. Seuil OMS &gt; 60/100 = suivi médical requis.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OMS 2020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Exigences émotionnelles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Charge psychologique cachée. Lié aux troubles anxio-dépressifs (Ameli 2023). Critique pour fonctions contact et client.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Ameli 2023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Conflit travail-famille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Facteur de risque TMS et troubles du sommeil (WHO 2019). 23.1% en zone rouge dans les données terrain.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WHO 2019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Santé auto-évaluée (SAE)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Prédicteur de morbidité à 5 ans. 74.7% de perception négative dans votre terrain. Outil de surveillance populationnelle.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Idler &amp; Benyamini 1997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Soutien social des collègues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Facteur protecteur contre la dépression au travail (Stansfeld 2006). Indicateur de résilience collective par service.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Stansfeld 2006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KARASEK + Satisfaction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RH / Directeur Général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RH / DG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% collaborateurs en Job Strain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Fortes demandes + faible latitude = zone rouge. Standard OIT : &gt; 25% = alerte organisationnelle. Pilotage par direction.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OIT / ISO 45003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de latitude décisionnelle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Autonomie = levier productivité (Gallup 2023). Faible latitude corrélée au présentéisme. Seuil Karasek &lt; 70/100 = intervention.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Gallup 2023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de demandes psychologiques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Rythme + complexité + interruptions. Prédicteur absentéisme court terme. Seuil critique &gt; 40/100 selon normes européennes.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INRS 2022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Satisfaction globale au travail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Corrélée à la performance individuelle (Judge 2001 : r=0.30). Indicateur d'alerte précoce du turnover.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Judge et al. 2001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Index d'Iso-Strain (Job Strain + faible SS)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Triple risque : demandes élevées + faible contrôle + faible soutien social. Lié aux maladies cardiovasculaires (+23%).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Kivimäki 2012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KARASEK + Satisfaction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Médecin du Travail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Médecin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Prévalence d'Iso-Strain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Risque cardiovasculaire documenté : +23% risque coronarien (Kivimäki 2012). Identification des profils à orienter en consultation.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Kivimäki 2012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soutien social superviseur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Facteur modérateur du stress physiologique. Faible SS = activation de l'axe HPA (cortisol). Seuil &lt; 2.3 = surveillance renforcée.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Johnson &amp; Hall 1988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Demandes psychologiques (médical)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Corrélé aux TMS cervicaux et lombaires (INRS 2022). Indicateur pour prescription de restrictions d'aptitude.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INRS 2022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Latitude décisionnelle par poste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Faible latitude = facteur de risque dépression (Stansfeld 1999). Permet d'orienter les aménagements de poste.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Stansfeld 1999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3FBE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Satisfaction au travail (corrélat santé)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Lien fort avec santé physique auto-rapportée (méta-analyse N=485k). Indicateur de suivi longitudinal en visite médicale.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Faragher 2005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83A3A"/>
          </a:solidFill>
          <a:ln w="12700">
            <a:solidFill>
              <a:srgbClr val="D83A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MBI — Maslach Burnout Inventory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RH / Directeur Général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RH / DG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Taux de burnout avéré (triple critère)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EE élevé + Dépersonnalisation élevée + RP faible = burnout complet. Coût estimé : 13k€/personne/an (OCDE 2021).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OCDE 2021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d'Épuisement Émotionnel (EE)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Dimension centrale du burnout. EE &gt; 27 = zone critique (norme Maslach). Prédicteur N°1 de l'absentéisme longue durée.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Maslach 1981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Taux de burnout partiel (pré-burnout)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1 ou 2 dimensions dégradées = population prioritaire. Benchmark : 15-20% secteur privé (ANACT 2023).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ANACT 2023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de Réalisation Personnelle (RP)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Indicateur d'efficacité perçue et de motivation. RP faible = signal de désengagement avant turnover.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Maslach 1981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Profil MBI par direction / équipe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Cartographie du risque burnout par unité. Priorise les interventions managériales. Corrélé au leadership.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Leiter &amp; Maslach 2005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83A3A"/>
          </a:solidFill>
          <a:ln w="12700">
            <a:solidFill>
              <a:srgbClr val="D83A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MBI — Maslach Burnout Inventory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Médecin du Travail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Médecin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Épuisement émotionnel clinique (EE ≥ 27)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Seuil clinique Maslach. EE ≥ 27 = convocation systématique en consultation. Risque de troubles psychosomatiques documenté.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Borritz 2006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Burnout complet (triple critère)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EE élevé + Dépersonnalisation élevée + RP faible. Orientation psychiatrique recommandée. Taux &lt; 5% = niveau acceptable OMS.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OMS 2019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Dépersonnalisation clinique (D ≥ 10)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Indicateur de détachement émotionnel pathologique. Corrélé aux erreurs professionnelles et accidents du travail.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Shanafelt 2010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Combinaison MBI × facteurs de santé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Croisement burnout avec IMC, tabagisme, maladie chronique (disponible dans les données CSV). Profils à vulnérabilité cumulative.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INRS 2022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D83A3A">
              <a:alpha val="15000"/>
            </a:srgbClr>
          </a:solidFill>
          <a:ln w="12700">
            <a:solidFill>
              <a:srgbClr val="D83A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A3A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Évolution longitudinale EE (T1 → T2)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Delta EE &gt; 5 points entre 2 mesures = signal d'alerte pour suivi médical renforcé. Détection des trajectoires aggravantes.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Maslach 1981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QVT — Qualité de Vie au Travail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RH / Directeur Général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RH / DG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Indice global QVT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Score composite organisation + contenu + relations + réalisation. Benchmark ANACT : &gt; 60% = satisfaisant. Indicateur marque employeur.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ANACT 2016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Qualité des relations de travail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Cohésion d'équipe et coopération horizontale. Corrélé à la performance collective (Lencioni 2002). Seuil critique &lt; 50%.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Eurofound 2023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Contenu et sens du travail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Autonomie + utilité perçue + variété des tâches. 90% de faible sens dans le terrain Orange CI. Lié à l'engagement.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Hackman &amp; Oldham 1976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Égalité professionnelle perçue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Équité de traitement (genre, ancienneté, catégorie). Prédicteur du turnover différentiel. Indicateur RSE et conformité.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ISO 45003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Conditions et environnement de travail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Ressources matérielles + outils + espace. Lié à la santé physique (TMS) et à la productivité. Investissement RH mesurable.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INRS 2022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QVT — Qualité de Vie au Travail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Médecin du Travail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Médecin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Adéquation des ressources aux tâches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Manque de ressources = stress chronique et TMS. Disponible dans les données Karasek (adq_resources_score). Seuil &lt; 3/5 = alerte.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ISO 45003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Charge physique du poste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Posture, déplacements, port de charge. Indicateur d'aptitude et de prévention TMS. Essentiel pour les visites de reprise.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INRS 2022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Conflit de rôle et ambiguïté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Instructions floues + objectifs contradictoires = stress chronique (Kahn 1964). Lié aux troubles anxieux. Seuil adq_role &lt; 3.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Kahn 1964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Équilibre vie professionnelle / privée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Facteur protecteur de la santé globale. Prévention des troubles du sommeil et de l'alcoolisation (données disponibles).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WHO 2019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Reconnaissance et équité (modèle ERI)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Déséquilibre effort/récompense = risque cardiovasculaire x1.5 (Siegrist 1996). Indicateur médicalement pertinent.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Siegrist 1996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861A"/>
          </a:solidFill>
          <a:ln w="12700">
            <a:solidFill>
              <a:srgbClr val="E8861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WHO-5 · PSS-10 — Stress Perçu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RH / Directeur Général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RH / DG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Score de stress perçu (PSS-10 moyen)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Score moyen d'équipe. Benchmark Cohen : score &gt; 20/40 = stress modéré-sévère. 70%+ exposés dans les données terrain.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Cohen 1983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Taux de stress sévère (PSS ≥ 27)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% collaborateurs en stress sévère = indicateur d'urgence. Benchmark OMS : &lt; 10% acceptable. Segmenter par genre et poste.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OMS 2020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Sentiment de contrôle perçu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Items PSS positifs (4, 5, 6, 7, 9). Indicateur d'auto-efficacité et de résilience collective. Levier managérial : autonomie.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E0F4EE"/>
          </a:solidFill>
          <a:ln w="12700">
            <a:solidFill>
              <a:srgbClr val="E0F4E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</a:rPr>
              <a:t>Levier performance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Bandura 1997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Bien-être subjectif (WHO-5)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Score WHO-5 &lt; 28/100 = dépistage détresse recommandé. Indicateur de santé mentale populationnelle simple et validé.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WHO 2020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Évolution du stress entre vagues d'enquête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Delta PSS-10 T1 → T2. Mesure l'impact des actions RH et managériales sur la santé perçue. Outil de pilotage prévention.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Cohen 1983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861A"/>
          </a:solidFill>
          <a:ln w="12700">
            <a:solidFill>
              <a:srgbClr val="E8861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WHO-5 · PSS-10 — Stress Perçu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Top 5 — Tableau de Bord Médecin du Travail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543800" y="137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Médecin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228600" y="77724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8412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WHO-5 &lt; 28 : prévalence détresse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Seuil validé de dépistage dépressif (Se=92%, Sp=68% — Topp 2015). Personnes sous ce seuil = convocation en consultation.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3" name="Text 11"/>
          <p:cNvSpPr/>
          <p:nvPr/>
        </p:nvSpPr>
        <p:spPr>
          <a:xfrm>
            <a:off x="658368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0" y="1252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Topp 2015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PSS ≥ 27 : stress sévère clinique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Corrélé à l'activation neuroendocrine (cortisol, inflammation). Risque de pathologies somatiques. Orientation médecin traitant.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1" name="Text 19"/>
          <p:cNvSpPr/>
          <p:nvPr/>
        </p:nvSpPr>
        <p:spPr>
          <a:xfrm>
            <a:off x="6583680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Cohen 1983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22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5" name="Text 23"/>
          <p:cNvSpPr/>
          <p:nvPr/>
        </p:nvSpPr>
        <p:spPr>
          <a:xfrm>
            <a:off x="228600" y="236829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4323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Item Q5 PSS (incapacité à surmonter)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70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Item le plus prédictif des troubles anxieux (Warttig 2013). Utile pour cibler les entretiens médicaux individuels.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6583680" y="24780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2020"/>
                </a:solidFill>
              </a:rPr>
              <a:t>Risque prioritaire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Warttig 2013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3163824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228600" y="316382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Profil stress × comportements à risque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Croisement PSS avec tabagisme, alcool, sédentarité (disponibles dans les CSV). Identification des vulnérabilités combinées.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7" name="Text 35"/>
          <p:cNvSpPr/>
          <p:nvPr/>
        </p:nvSpPr>
        <p:spPr>
          <a:xfrm>
            <a:off x="658368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05A00"/>
                </a:solidFill>
              </a:rPr>
              <a:t>Vigilance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8368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INRS 2022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3959352"/>
            <a:ext cx="8686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solidFill>
            <a:srgbClr val="E8861A">
              <a:alpha val="15000"/>
            </a:srgbClr>
          </a:solidFill>
          <a:ln w="12700">
            <a:solidFill>
              <a:srgbClr val="E88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61A"/>
                </a:solidFill>
              </a:rPr>
              <a:t>#5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4023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Suivi longitudinal WHO-5 (semestriel)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4261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Surveillance populationnelle validée OMS. Détection précoce des trajectoires dépressives avant arrêt de travail.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solidFill>
            <a:srgbClr val="E0EEFF"/>
          </a:solidFill>
          <a:ln w="12700">
            <a:solidFill>
              <a:srgbClr val="E0EEFF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5" name="Text 43"/>
          <p:cNvSpPr/>
          <p:nvPr/>
        </p:nvSpPr>
        <p:spPr>
          <a:xfrm>
            <a:off x="65836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CA8"/>
                </a:solidFill>
              </a:rPr>
              <a:t>Suivi stratégique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5"/>
                </a:solidFill>
              </a:rPr>
              <a:t>Réf : OMS 2020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Indicateurs Transversaux Prioritaires — Lecture croisée RH × Médecin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868680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109728" cy="713232"/>
          </a:xfrm>
          <a:prstGeom prst="rect">
            <a:avLst/>
          </a:prstGeom>
          <a:solidFill>
            <a:srgbClr val="D83A3A"/>
          </a:solidFill>
          <a:ln w="12700">
            <a:solidFill>
              <a:srgbClr val="D83A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438912" y="8869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Épuisement / Burnout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1170432"/>
            <a:ext cx="1188720" cy="182880"/>
          </a:xfrm>
          <a:prstGeom prst="rect">
            <a:avLst/>
          </a:prstGeom>
          <a:solidFill>
            <a:srgbClr val="D83A3A">
              <a:alpha val="30000"/>
            </a:srgbClr>
          </a:solidFill>
          <a:ln w="12700">
            <a:solidFill>
              <a:srgbClr val="D83A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MBI + COPSOQ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0" y="896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2FF"/>
                </a:solidFill>
              </a:rPr>
              <a:t>RH / DG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83280" y="1078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Signal absentéisme &amp; coût RH</a:t>
            </a:r>
          </a:p>
        </p:txBody>
      </p:sp>
      <p:sp>
        <p:nvSpPr>
          <p:cNvPr id="11" name="Text 9"/>
          <p:cNvSpPr/>
          <p:nvPr/>
        </p:nvSpPr>
        <p:spPr>
          <a:xfrm>
            <a:off x="6035040" y="896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9090"/>
                </a:solidFill>
              </a:rPr>
              <a:t>Médecin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35040" y="1078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Suivi clinique &amp; orientation psychiatrique</a:t>
            </a:r>
          </a:p>
        </p:txBody>
      </p:sp>
      <p:sp>
        <p:nvSpPr>
          <p:cNvPr id="13" name="Shape 11"/>
          <p:cNvSpPr/>
          <p:nvPr/>
        </p:nvSpPr>
        <p:spPr>
          <a:xfrm>
            <a:off x="228600" y="1645920"/>
            <a:ext cx="868680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Shape 12"/>
          <p:cNvSpPr/>
          <p:nvPr/>
        </p:nvSpPr>
        <p:spPr>
          <a:xfrm>
            <a:off x="228600" y="1645920"/>
            <a:ext cx="109728" cy="713232"/>
          </a:xfrm>
          <a:prstGeom prst="rect">
            <a:avLst/>
          </a:prstGeom>
          <a:solidFill>
            <a:srgbClr val="E8861A"/>
          </a:solidFill>
          <a:ln w="12700">
            <a:solidFill>
              <a:srgbClr val="E8861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5" name="Text 13"/>
          <p:cNvSpPr/>
          <p:nvPr/>
        </p:nvSpPr>
        <p:spPr>
          <a:xfrm>
            <a:off x="438912" y="17099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Stress perçu (PSS-10 + WHO-5)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1993392"/>
            <a:ext cx="1188720" cy="182880"/>
          </a:xfrm>
          <a:prstGeom prst="rect">
            <a:avLst/>
          </a:prstGeom>
          <a:solidFill>
            <a:srgbClr val="E8861A">
              <a:alpha val="30000"/>
            </a:srgbClr>
          </a:solidFill>
          <a:ln w="12700">
            <a:solidFill>
              <a:srgbClr val="E886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7" name="Text 15"/>
          <p:cNvSpPr/>
          <p:nvPr/>
        </p:nvSpPr>
        <p:spPr>
          <a:xfrm>
            <a:off x="438912" y="19933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PSS-10 · WHO-5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0" y="1719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2FF"/>
                </a:solidFill>
              </a:rPr>
              <a:t>RH / DG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83280" y="19019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Dépistage population &amp; delta T1→T2</a:t>
            </a:r>
          </a:p>
        </p:txBody>
      </p:sp>
      <p:sp>
        <p:nvSpPr>
          <p:cNvPr id="20" name="Text 18"/>
          <p:cNvSpPr/>
          <p:nvPr/>
        </p:nvSpPr>
        <p:spPr>
          <a:xfrm>
            <a:off x="6035040" y="1719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9090"/>
                </a:solidFill>
              </a:rPr>
              <a:t>Médecin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35040" y="1901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Convocation &lt; seuil clinique (WHO-5 &lt; 28)</a:t>
            </a:r>
          </a:p>
        </p:txBody>
      </p:sp>
      <p:sp>
        <p:nvSpPr>
          <p:cNvPr id="22" name="Shape 20"/>
          <p:cNvSpPr/>
          <p:nvPr/>
        </p:nvSpPr>
        <p:spPr>
          <a:xfrm>
            <a:off x="228600" y="2468880"/>
            <a:ext cx="868680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3" name="Shape 21"/>
          <p:cNvSpPr/>
          <p:nvPr/>
        </p:nvSpPr>
        <p:spPr>
          <a:xfrm>
            <a:off x="228600" y="2468880"/>
            <a:ext cx="109728" cy="713232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4" name="Text 22"/>
          <p:cNvSpPr/>
          <p:nvPr/>
        </p:nvSpPr>
        <p:spPr>
          <a:xfrm>
            <a:off x="438912" y="25328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Iso-Strain (Karasek)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2816352"/>
            <a:ext cx="1188720" cy="182880"/>
          </a:xfrm>
          <a:prstGeom prst="rect">
            <a:avLst/>
          </a:prstGeom>
          <a:solidFill>
            <a:srgbClr val="7B3FBE">
              <a:alpha val="30000"/>
            </a:srgbClr>
          </a:solidFill>
          <a:ln w="12700">
            <a:solidFill>
              <a:srgbClr val="7B3FB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6" name="Text 24"/>
          <p:cNvSpPr/>
          <p:nvPr/>
        </p:nvSpPr>
        <p:spPr>
          <a:xfrm>
            <a:off x="438912" y="28163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KARASEK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83280" y="2542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2FF"/>
                </a:solidFill>
              </a:rPr>
              <a:t>RH / DG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83280" y="27249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Alerte organisationnelle si &gt; 25%</a:t>
            </a:r>
          </a:p>
        </p:txBody>
      </p:sp>
      <p:sp>
        <p:nvSpPr>
          <p:cNvPr id="29" name="Text 27"/>
          <p:cNvSpPr/>
          <p:nvPr/>
        </p:nvSpPr>
        <p:spPr>
          <a:xfrm>
            <a:off x="6035040" y="2542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9090"/>
                </a:solidFill>
              </a:rPr>
              <a:t>Médecin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35040" y="2724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Risque cardiovasculaire +23% (Kivimäki)</a:t>
            </a:r>
          </a:p>
        </p:txBody>
      </p:sp>
      <p:sp>
        <p:nvSpPr>
          <p:cNvPr id="31" name="Shape 29"/>
          <p:cNvSpPr/>
          <p:nvPr/>
        </p:nvSpPr>
        <p:spPr>
          <a:xfrm>
            <a:off x="228600" y="3291840"/>
            <a:ext cx="868680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2" name="Shape 30"/>
          <p:cNvSpPr/>
          <p:nvPr/>
        </p:nvSpPr>
        <p:spPr>
          <a:xfrm>
            <a:off x="228600" y="3291840"/>
            <a:ext cx="10972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3" name="Text 31"/>
          <p:cNvSpPr/>
          <p:nvPr/>
        </p:nvSpPr>
        <p:spPr>
          <a:xfrm>
            <a:off x="438912" y="33558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Reconnaissance (COPSOQ + QVT)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" y="3639312"/>
            <a:ext cx="1188720" cy="1828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5" name="Text 33"/>
          <p:cNvSpPr/>
          <p:nvPr/>
        </p:nvSpPr>
        <p:spPr>
          <a:xfrm>
            <a:off x="438912" y="36393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COPSOQ · QVT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83280" y="3364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2FF"/>
                </a:solidFill>
              </a:rPr>
              <a:t>RH / DG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83280" y="35478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Turnover &amp; engagement (+21% Gallup)</a:t>
            </a:r>
          </a:p>
        </p:txBody>
      </p:sp>
      <p:sp>
        <p:nvSpPr>
          <p:cNvPr id="38" name="Text 36"/>
          <p:cNvSpPr/>
          <p:nvPr/>
        </p:nvSpPr>
        <p:spPr>
          <a:xfrm>
            <a:off x="6035040" y="3364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9090"/>
                </a:solidFill>
              </a:rPr>
              <a:t>Médecin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35040" y="3547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Déséquilibre ERI Siegrist — risque CV ×1.5</a:t>
            </a:r>
          </a:p>
        </p:txBody>
      </p:sp>
      <p:sp>
        <p:nvSpPr>
          <p:cNvPr id="40" name="Shape 38"/>
          <p:cNvSpPr/>
          <p:nvPr/>
        </p:nvSpPr>
        <p:spPr>
          <a:xfrm>
            <a:off x="228600" y="4114800"/>
            <a:ext cx="868680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1" name="Shape 39"/>
          <p:cNvSpPr/>
          <p:nvPr/>
        </p:nvSpPr>
        <p:spPr>
          <a:xfrm>
            <a:off x="228600" y="4114800"/>
            <a:ext cx="109728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2" name="Text 40"/>
          <p:cNvSpPr/>
          <p:nvPr/>
        </p:nvSpPr>
        <p:spPr>
          <a:xfrm>
            <a:off x="438912" y="41788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Sens du travail (COPSOQ + QVT)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" y="4462272"/>
            <a:ext cx="1188720" cy="182880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44" name="Text 42"/>
          <p:cNvSpPr/>
          <p:nvPr/>
        </p:nvSpPr>
        <p:spPr>
          <a:xfrm>
            <a:off x="438912" y="446227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COPSOQ · QVT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83280" y="4187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2FF"/>
                </a:solidFill>
              </a:rPr>
              <a:t>RH / DG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83280" y="43708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Désengagement &amp; efficience opérationnelle</a:t>
            </a:r>
          </a:p>
        </p:txBody>
      </p:sp>
      <p:sp>
        <p:nvSpPr>
          <p:cNvPr id="47" name="Text 45"/>
          <p:cNvSpPr/>
          <p:nvPr/>
        </p:nvSpPr>
        <p:spPr>
          <a:xfrm>
            <a:off x="6035040" y="4187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9090"/>
                </a:solidFill>
              </a:rPr>
              <a:t>Médecin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035040" y="4370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Détresse psychologique précoce (WHO-5)</a:t>
            </a:r>
          </a:p>
        </p:txBody>
      </p:sp>
      <p:sp>
        <p:nvSpPr>
          <p:cNvPr id="49" name="Text 47"/>
          <p:cNvSpPr/>
          <p:nvPr/>
        </p:nvSpPr>
        <p:spPr>
          <a:xfrm>
            <a:off x="77724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Références Scientifiques &amp; Standards Internationaux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Questionnaires validés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4241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Karasek R. (1979). Job demands &amp; decision latitude. Adm Sci Q.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74320" y="125272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Maslach C. &amp; Jackson S. (1981). MBI Manual. Consulting PP.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Cohen S. et al. (1983). Perceived Stress Scale. J Pers Soc Psych.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Kristensen T.S. et al. (2005). COPSOQ. Scand J Work Env Health.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274320" y="188366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Johnson J. &amp; Hall E. (1988). Iso-Strain model. Am J Public Health.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274320" y="2258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Organisations internationales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47802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WHO (2020). World Mental Health Survey. Geneva.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74320" y="268833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ILO (2022). Safe and Healthy Working Environments.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74320" y="28986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ISO 45003:2021 — Psychological health &amp; safety at work.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Eurofound (2023). 6th European Working Conditions Survey.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74320" y="331927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Gallup (2023). State of the Global Workplace Report.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709160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Études cliniques &amp; épidémiologiques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04241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Kivimäki M. et al. (2012). Job strain &amp; CHD. The Lancet.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709160" y="125272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Siegrist J. (1996). Effort-Reward Imbalance. Soc Sci Med.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Faragher E. et al. (2005). Job satisfaction &amp; health. Occ Env Med.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709160" y="167335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Topp C. et al. (2015). WHO-5 validity review. Psychother Psychosom.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709160" y="188366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Stansfeld S. (2006). Work, personality &amp; mental health. Br J Psych.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709160" y="2258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Organismes nationaux &amp; sectoriels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247802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INRS (2022). Baromètre RPS et charge cognitive au travail.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709160" y="268833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ANACT (2023). Guide prévention RPS — secteur télécoms.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709160" y="289864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Deloitte (2023). TMT Wellbeing Report — fatigue managers.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709160" y="310896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Ameli (2023). Troubles anxio-dépressifs liés au travail.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709160" y="331927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4"/>
                </a:solidFill>
              </a:rPr>
              <a:t>· OCDE (2021). Mental Health and Work Report. Paris.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5"/>
                </a:solidFill>
              </a:rPr>
              <a:t>YODAN Analytics — LAMIFI · Tableaux de bord Santé &amp; Performance · Abidjan, 2025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12801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5"/>
                </a:solidFill>
              </a:rPr>
              <a:t>Page 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2675</Words>
  <Application>Microsoft Office PowerPoint</Application>
  <PresentationFormat>Affichage à l'écran (16:9)</PresentationFormat>
  <Paragraphs>405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LAMIFI — Tableaux de Bord Yodan Analytics</dc:title>
  <dc:subject>PptxGenJS Presentation</dc:subject>
  <dc:creator>Yodan Analytics</dc:creator>
  <cp:lastModifiedBy>Wenan Toure</cp:lastModifiedBy>
  <cp:revision>2</cp:revision>
  <dcterms:created xsi:type="dcterms:W3CDTF">2026-03-29T22:16:35Z</dcterms:created>
  <dcterms:modified xsi:type="dcterms:W3CDTF">2026-03-31T08:58:14Z</dcterms:modified>
</cp:coreProperties>
</file>